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65BC-664E-E34D-F45C-14A4BF13D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73929-257E-5331-1337-690854C40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98FF-B4F3-038A-FAC7-DEAE2FF7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820C-F32E-C084-1C77-413D43CB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C373-84F8-5958-67B3-A367D229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51A2-45C0-43B4-B61A-C2D8F5DB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5D00-4B37-9154-6074-F95E44F0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4506-5725-E027-37D7-E622DCE1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7376-35ED-1F57-2FB7-85DAC361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F576-7CD9-DBF9-9F0B-A00337DA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09DB-2485-DF4C-B0F9-71247109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2F80-63A7-E18A-99FD-0A21C797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9408-B6D3-BDD6-E353-B42E3A2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F017-D929-D146-5A46-6C5F915E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81B08-7BCB-C9A2-21C9-E6ED3C4A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28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597E-DE11-FEEC-E54D-7AC9DCC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F056-ACA0-2306-53DA-40769847F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E5D65-9631-1E78-139F-79D96DBA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B0294-FEB3-B8C9-304F-C2D1978E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A99D-6642-8532-AEA2-B36A5DB8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FCE9B-BA02-CB42-6497-4FBCDA8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3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4FF2-326D-D9E4-9134-FD28E039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7DB5-493E-9740-674C-BE8060A0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D0B5-010E-7DA6-9F6E-EED190AD1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570CF-5E81-30B5-6B5F-94249F194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CC410-6F09-0127-2105-AABCAC420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3154E-0840-EE4F-13CF-8991928D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3E23C-C72A-C9A7-E0B1-7FB9F40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FF275-60ED-3365-0FBB-020BAD33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0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E1F2-95CF-B502-2CC9-6F8C62FA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EAF13-9EDD-2751-A98E-DEAFB3E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0684B-BA00-C518-2855-0029C385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B6447-3DC0-291A-945A-79139973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4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B135B-3986-3C2A-4994-09878DE4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72E4E-E343-8FDB-9A36-1614501F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0E274-0E21-AC6F-9BA9-6BF9FDC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41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7C1E-0FD5-CC63-CDA4-E528C902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D4A3-1FE4-D676-1024-3FEA37A50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1B3D1-7647-CB07-EAF6-326AFEEE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8BED2-AE58-49C8-DC6E-D4A6DFAB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7C45F-68D6-E679-C8E9-7E5E51F1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84111-C17E-2AF4-5D44-52DF82ED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8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2074-468C-4666-0FE7-EC0F6BC5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C9A88-14DD-5898-1BD2-CADFED55A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C354B-4D16-18BE-89B4-35ECF5C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DCF00-AD5C-EC72-BA2E-AFCED18B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FB795-C4E8-76CD-AC98-DEEBB8E3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4B792-E24D-859E-C7F3-A0A90518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3FAF-5FEB-FDAA-9D62-A5386E2E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97542-2CCC-C527-3154-120B223AC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7304-24E4-8E93-3786-250CF3C4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AA7A-8DFA-F641-2FF9-AF5F7549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AE6-0AD9-8697-AA67-8878CFB6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23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5DD5B-FDBF-2A7B-E3E3-91C8EBE6D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5D26F-4843-9FC9-F33E-DB1D8413A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D1E8C-24C1-CDA6-1B03-E6111572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75BB-2825-9F5E-C5F4-993C1411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0A77-CDFE-A199-3DB4-C6A3EDA3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FE081-08AB-05EE-BAD5-46E3AEF8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1C1D9-BEC0-7283-C153-F5669BDC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309-2AE8-C605-EEA9-70C7DDCBF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05BA9-9C04-41A9-B92F-677689AD911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2CA85-D2D0-F563-91C8-40FBD157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22E0-87AC-62A9-E01F-4B03C10F6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F52F-76EF-4E35-8BE3-89CE82AFE707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0F099-6047-DB39-75C5-DC0636037BF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946" y="11272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9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50BA-E35A-B24B-98EE-210D00FF4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ADBMS LAB MST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C182D-C6DC-FBAE-884F-A06BCF088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 – 02</a:t>
            </a:r>
          </a:p>
          <a:p>
            <a:r>
              <a:rPr lang="en-US" dirty="0"/>
              <a:t>KRG-1A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14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00EE-EA06-483E-54A4-953C8265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47" y="583066"/>
            <a:ext cx="11519808" cy="299804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 01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99C5C-B913-2DC1-73D3-D33758282D89}"/>
              </a:ext>
            </a:extLst>
          </p:cNvPr>
          <p:cNvSpPr txBox="1"/>
          <p:nvPr/>
        </p:nvSpPr>
        <p:spPr>
          <a:xfrm>
            <a:off x="160282" y="882870"/>
            <a:ext cx="118714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An online store maintains customers and their orders. Display customers whose </a:t>
            </a:r>
            <a:r>
              <a:rPr lang="en-IN" b="1" dirty="0"/>
              <a:t>total purchase amount is greater than the total purchase amount of every other customer from the same city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Display </a:t>
            </a:r>
            <a:r>
              <a:rPr lang="en-IN" b="1" dirty="0"/>
              <a:t>Customer Name, City, and Total Purchase Amount</a:t>
            </a:r>
            <a:r>
              <a:rPr lang="en-IN" dirty="0"/>
              <a:t>. If two customers from the same city tie for the highest total, display both.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Constraint: Only a solution using JOINS and SUBQUERIES is allowed. CTEs and Window Functions are not allowed.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374D26-ADF0-28D1-8A3D-1B1B9A36E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329752"/>
              </p:ext>
            </p:extLst>
          </p:nvPr>
        </p:nvGraphicFramePr>
        <p:xfrm>
          <a:off x="200447" y="3108285"/>
          <a:ext cx="526743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811">
                  <a:extLst>
                    <a:ext uri="{9D8B030D-6E8A-4147-A177-3AD203B41FA5}">
                      <a16:colId xmlns:a16="http://schemas.microsoft.com/office/drawing/2014/main" val="1938508258"/>
                    </a:ext>
                  </a:extLst>
                </a:gridCol>
                <a:gridCol w="1755811">
                  <a:extLst>
                    <a:ext uri="{9D8B030D-6E8A-4147-A177-3AD203B41FA5}">
                      <a16:colId xmlns:a16="http://schemas.microsoft.com/office/drawing/2014/main" val="2038983364"/>
                    </a:ext>
                  </a:extLst>
                </a:gridCol>
                <a:gridCol w="1755811">
                  <a:extLst>
                    <a:ext uri="{9D8B030D-6E8A-4147-A177-3AD203B41FA5}">
                      <a16:colId xmlns:a16="http://schemas.microsoft.com/office/drawing/2014/main" val="4085707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573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65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08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0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45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Pune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7517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403B7C-52B3-F52A-8CEA-964F1F073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08161"/>
              </p:ext>
            </p:extLst>
          </p:nvPr>
        </p:nvGraphicFramePr>
        <p:xfrm>
          <a:off x="5960351" y="3108285"/>
          <a:ext cx="526743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811">
                  <a:extLst>
                    <a:ext uri="{9D8B030D-6E8A-4147-A177-3AD203B41FA5}">
                      <a16:colId xmlns:a16="http://schemas.microsoft.com/office/drawing/2014/main" val="1938508258"/>
                    </a:ext>
                  </a:extLst>
                </a:gridCol>
                <a:gridCol w="1755811">
                  <a:extLst>
                    <a:ext uri="{9D8B030D-6E8A-4147-A177-3AD203B41FA5}">
                      <a16:colId xmlns:a16="http://schemas.microsoft.com/office/drawing/2014/main" val="2038983364"/>
                    </a:ext>
                  </a:extLst>
                </a:gridCol>
                <a:gridCol w="1755811">
                  <a:extLst>
                    <a:ext uri="{9D8B030D-6E8A-4147-A177-3AD203B41FA5}">
                      <a16:colId xmlns:a16="http://schemas.microsoft.com/office/drawing/2014/main" val="4085707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573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757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91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65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08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0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45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751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C54E0E-EB58-1BC3-26EE-B2C2F2F8456F}"/>
              </a:ext>
            </a:extLst>
          </p:cNvPr>
          <p:cNvSpPr txBox="1"/>
          <p:nvPr/>
        </p:nvSpPr>
        <p:spPr>
          <a:xfrm>
            <a:off x="1560787" y="542459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D6277-4BB8-5C1F-5794-8E623D35B286}"/>
              </a:ext>
            </a:extLst>
          </p:cNvPr>
          <p:cNvSpPr txBox="1"/>
          <p:nvPr/>
        </p:nvSpPr>
        <p:spPr>
          <a:xfrm>
            <a:off x="7776920" y="6176762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67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7261FA-F720-AD12-0149-BA9D666E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39097"/>
              </p:ext>
            </p:extLst>
          </p:nvPr>
        </p:nvGraphicFramePr>
        <p:xfrm>
          <a:off x="376620" y="1366053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687991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860651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8862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total_purchase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27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978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39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20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0685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5CE51AE-2CCC-C68A-E69E-54C909DA57B0}"/>
              </a:ext>
            </a:extLst>
          </p:cNvPr>
          <p:cNvSpPr txBox="1"/>
          <p:nvPr/>
        </p:nvSpPr>
        <p:spPr>
          <a:xfrm>
            <a:off x="1292772" y="993228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910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DCF9-183D-3987-8978-148D6D07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20" y="488731"/>
            <a:ext cx="10515600" cy="41368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 02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C5903-D7B1-AF21-56E8-F2560C04258C}"/>
              </a:ext>
            </a:extLst>
          </p:cNvPr>
          <p:cNvSpPr txBox="1"/>
          <p:nvPr/>
        </p:nvSpPr>
        <p:spPr>
          <a:xfrm>
            <a:off x="278524" y="902412"/>
            <a:ext cx="11634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inventory system stores products in </a:t>
            </a:r>
            <a:r>
              <a:rPr lang="en-IN" dirty="0" err="1">
                <a:latin typeface="+mn-lt"/>
              </a:rPr>
              <a:t>product_inventory</a:t>
            </a:r>
            <a:r>
              <a:rPr lang="en-IN" dirty="0"/>
              <a:t>. Create a trigger that automatically records a log whenever a product is </a:t>
            </a:r>
            <a:r>
              <a:rPr lang="en-IN" b="1" dirty="0"/>
              <a:t>inserted or deleted</a:t>
            </a:r>
            <a:r>
              <a:rPr lang="en-IN" dirty="0"/>
              <a:t>. Store Product ID, Product Name, action (</a:t>
            </a:r>
            <a:r>
              <a:rPr lang="en-IN" dirty="0">
                <a:latin typeface="+mn-lt"/>
              </a:rPr>
              <a:t>PRODUCT ADDED</a:t>
            </a:r>
            <a:r>
              <a:rPr lang="en-IN" dirty="0"/>
              <a:t>/</a:t>
            </a:r>
            <a:r>
              <a:rPr lang="en-IN" dirty="0">
                <a:latin typeface="+mn-lt"/>
              </a:rPr>
              <a:t>PRODUCT REMOVED</a:t>
            </a:r>
            <a:r>
              <a:rPr lang="en-IN" dirty="0"/>
              <a:t>), and current timestamp in </a:t>
            </a:r>
            <a:r>
              <a:rPr lang="en-IN" dirty="0" err="1">
                <a:latin typeface="+mn-lt"/>
              </a:rPr>
              <a:t>product_audit</a:t>
            </a:r>
            <a:r>
              <a:rPr lang="en-IN" dirty="0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5B7F6A-92C8-A128-CE8B-CDEE7BC28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71719"/>
              </p:ext>
            </p:extLst>
          </p:nvPr>
        </p:nvGraphicFramePr>
        <p:xfrm>
          <a:off x="278524" y="2690355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9236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704362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25516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05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14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2638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F474F-1ADD-1F58-5CE5-CE2D593384B1}"/>
              </a:ext>
            </a:extLst>
          </p:cNvPr>
          <p:cNvSpPr txBox="1"/>
          <p:nvPr/>
        </p:nvSpPr>
        <p:spPr>
          <a:xfrm>
            <a:off x="554420" y="2321023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5618DD-516E-3E06-DF79-955A635A2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216699"/>
              </p:ext>
            </p:extLst>
          </p:nvPr>
        </p:nvGraphicFramePr>
        <p:xfrm>
          <a:off x="278523" y="4910570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924354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233659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212933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88274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audit_id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583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Tablet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 ADDED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PRODUCT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728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4A252EB-CC58-9F64-CCAC-5FAF204C0BB9}"/>
              </a:ext>
            </a:extLst>
          </p:cNvPr>
          <p:cNvSpPr txBox="1"/>
          <p:nvPr/>
        </p:nvSpPr>
        <p:spPr>
          <a:xfrm>
            <a:off x="1324303" y="4556234"/>
            <a:ext cx="173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15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248</Words>
  <Application>Microsoft Office PowerPoint</Application>
  <PresentationFormat>Widescreen</PresentationFormat>
  <Paragraphs>93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ADBMS LAB MST</vt:lpstr>
      <vt:lpstr>Problem Statement 01</vt:lpstr>
      <vt:lpstr>PowerPoint Presentation</vt:lpstr>
      <vt:lpstr>Problem Statement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8</cp:revision>
  <dcterms:created xsi:type="dcterms:W3CDTF">2026-09-26T13:42:56Z</dcterms:created>
  <dcterms:modified xsi:type="dcterms:W3CDTF">2026-10-09T03:51:43Z</dcterms:modified>
</cp:coreProperties>
</file>